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0" r:id="rId6"/>
    <p:sldId id="262" r:id="rId7"/>
    <p:sldId id="265" r:id="rId8"/>
    <p:sldId id="273" r:id="rId9"/>
    <p:sldId id="27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06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CSP社内勉強会のタイトル。実在Desktopアプリを題材にしたCSPケーススタディ。社名は伏せる。3幕構成: 全体の流れ→CSPで詰まった→解決した方法。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ターゲット概要。社名は伏せ技術事実は保持。攻撃者は1クリック上限。CSPが攻防の主役だと宣言。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CSP基礎。許可リスト・主要ディレクティブ・効きどころ/死角。死角の3点が本ケースで実演される伏線。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2/3が開通。残るはscript実行=③。ここからCSPの壁の話へ。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ターゲット概観。wickrweb://が読めれば勝ち、という前提を確立。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入口の原始体。renderSymbol/renderAltChunkの生HTMLシンク。場所が重要=非サンドボックス同一オリジン。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CSP本体。script-src 'self' qrc://* が load-bearing control。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別プラットフォーム補足: Android は /preview-file/ reflector + srcdoc + ZIP/JSポリグロットで script-src 'self' を正規に満たし、same-origin JS実行を実機確認。Desktopにこのreflectorが無いのが『CSPで詰まった』理由。ただしAndroidは到達データ面が弱く深刻度はDesktop未満。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まとめ。教訓=CSPが信頼するものを突く。修正=0x040除去が根本。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412480" y="-1097280"/>
            <a:ext cx="5120640" cy="5120640"/>
          </a:xfrm>
          <a:prstGeom prst="roundRect">
            <a:avLst>
              <a:gd name="adj" fmla="val 7143"/>
            </a:avLst>
          </a:prstGeom>
          <a:solidFill>
            <a:srgbClr val="18223B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</a:t>
            </a:r>
            <a:r>
              <a:rPr lang="ja-JP" altLang="en-US" sz="52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とバグバウンティ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 err="1">
                <a:solidFill>
                  <a:schemeClr val="bg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セキュアメッセンジャ</a:t>
            </a:r>
            <a:r>
              <a:rPr lang="en-US" sz="1900" dirty="0">
                <a:solidFill>
                  <a:schemeClr val="bg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ー  </a:t>
            </a: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—</a:t>
            </a:r>
            <a:r>
              <a:rPr lang="ja-JP" altLang="en-US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</a:t>
            </a:r>
            <a:r>
              <a:rPr lang="en-US" altLang="ja-JP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</a:t>
            </a:r>
            <a:r>
              <a:rPr lang="ja-JP" altLang="en-US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を回避してファイル</a:t>
            </a:r>
            <a:r>
              <a:rPr lang="en-US" sz="1900" dirty="0" err="1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プレビューから</a:t>
            </a: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r>
              <a:rPr lang="en-US" altLang="ja-JP" sz="1900" dirty="0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RCE </a:t>
            </a:r>
            <a:r>
              <a:rPr lang="en-US" sz="1900" dirty="0" err="1">
                <a:solidFill>
                  <a:schemeClr val="bg2">
                    <a:lumMod val="75000"/>
                  </a:schemeClr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まで</a:t>
            </a:r>
            <a:endParaRPr lang="en-US" sz="1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5806440"/>
            <a:ext cx="10881360" cy="0"/>
          </a:xfrm>
          <a:prstGeom prst="line">
            <a:avLst/>
          </a:prstGeom>
          <a:noFill/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ターゲット概要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題材にするアプリ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766560" cy="3794760"/>
          </a:xfrm>
          <a:prstGeom prst="roundRect">
            <a:avLst>
              <a:gd name="adj" fmla="val 2169"/>
            </a:avLst>
          </a:prstGeom>
          <a:solidFill>
            <a:srgbClr val="18223B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種別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61488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E2E セキュアメッセンジャーの Desktop </a:t>
            </a:r>
            <a:r>
              <a:rPr lang="en-US" sz="1150" dirty="0" err="1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クライアント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プラットフォーム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61488" y="3310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Windows x64 / ネイティブ Qt6・QML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831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描画エンジン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61488" y="38313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Qt WebEngine 6.9.2 = Chromium 130.0.6723.192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3525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 構成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61488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qrc: 上の Web アプリ + custom URL scheme でネイティブ 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61488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2148840"/>
            <a:ext cx="4005072" cy="3794760"/>
          </a:xfrm>
          <a:prstGeom prst="roundRect">
            <a:avLst>
              <a:gd name="adj" fmla="val 2169"/>
            </a:avLst>
          </a:prstGeom>
          <a:solidFill>
            <a:srgbClr val="18223B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攻撃者モデル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36408" y="2825496"/>
            <a:ext cx="91440" cy="91440"/>
          </a:xfrm>
          <a:prstGeom prst="ellipse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046720" y="2724912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上限は ≤ 1クリック（victim が受信コンテンツを開く）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36408" y="3392424"/>
            <a:ext cx="91440" cy="91440"/>
          </a:xfrm>
          <a:prstGeom prst="ellipse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720" y="329184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既定インストール・非管理者・MITM なし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36408" y="3959352"/>
            <a:ext cx="91440" cy="91440"/>
          </a:xfrm>
          <a:prstGeom prst="ellipse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046720" y="385876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ねらい: code-exec / メモリ破壊 / ローカル API 越権 / E2E 読取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68172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Content-Security-Policy とは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 err="1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ブラウザに「各リソースをどのソースから読み込んでよいか」を宣言する許可リスト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2090384"/>
            <a:ext cx="10908792" cy="2423160"/>
          </a:xfrm>
          <a:prstGeom prst="roundRect">
            <a:avLst>
              <a:gd name="adj" fmla="val 3396"/>
            </a:avLst>
          </a:prstGeom>
          <a:solidFill>
            <a:srgbClr val="18223B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主要ディレクティブ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883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5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script-src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62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 の実行元。'self' だけなら inline・eval・onclick・javascript: は原則ブロック（最重要）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frame-src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iframe に埋め込める URL の許可リスト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8953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connect-src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169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fetch / XHR / WebSocket の接続先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6883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object-src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962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&lt;object&gt; / &lt;embed&gt; の埋め込み元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3291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/ style / media-src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画像・CSS・メディアの読み込み元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38953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default-src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169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未指定ディレクティブのフォールバック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" y="4636988"/>
            <a:ext cx="5358384" cy="1298448"/>
          </a:xfrm>
          <a:prstGeom prst="roundRect">
            <a:avLst>
              <a:gd name="adj" fmla="val 6338"/>
            </a:avLst>
          </a:prstGeom>
          <a:solidFill>
            <a:srgbClr val="212E50"/>
          </a:solidFill>
          <a:ln w="12700">
            <a:solidFill>
              <a:srgbClr val="45D6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68680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5D68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効きどころ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0657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inline JS / eval を封じ、XSS の“実行段”を止める。'self' 主体のポリシーは強力。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4645152"/>
            <a:ext cx="5367528" cy="1298448"/>
          </a:xfrm>
          <a:prstGeom prst="roundRect">
            <a:avLst>
              <a:gd name="adj" fmla="val 6338"/>
            </a:avLst>
          </a:prstGeom>
          <a:solidFill>
            <a:srgbClr val="212E50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09944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死角（今日の主題）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9944" y="50657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許可リストは“信頼した先”には無力（frame-src の許可オリジン等）  ② 一部スキームは CSP 適用外にできる  ③ CSP は防御の1レイヤーで境界ではない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某セキュアメッセンジャー (Desktop) · CSP 社内勉強会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吹き出し: 円形 39">
            <a:extLst>
              <a:ext uri="{FF2B5EF4-FFF2-40B4-BE49-F238E27FC236}">
                <a16:creationId xmlns:a16="http://schemas.microsoft.com/office/drawing/2014/main" id="{9B0EAAE9-3230-046E-88B9-A4F774ABA7C9}"/>
              </a:ext>
            </a:extLst>
          </p:cNvPr>
          <p:cNvSpPr/>
          <p:nvPr/>
        </p:nvSpPr>
        <p:spPr>
          <a:xfrm>
            <a:off x="6459080" y="856519"/>
            <a:ext cx="3728728" cy="1897510"/>
          </a:xfrm>
          <a:prstGeom prst="wedgeEllipseCallout">
            <a:avLst>
              <a:gd name="adj1" fmla="val 53979"/>
              <a:gd name="adj2" fmla="val 46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/>
              <a:t>このアプリをハッキングしてください</a:t>
            </a:r>
            <a:endParaRPr lang="en-GB" sz="1000" b="1" dirty="0"/>
          </a:p>
        </p:txBody>
      </p:sp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</a:t>
            </a:r>
            <a:r>
              <a:rPr lang="ja-JP" alt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に脆弱性を探してもらう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900" dirty="0"/>
          </a:p>
        </p:txBody>
      </p:sp>
      <p:pic>
        <p:nvPicPr>
          <p:cNvPr id="26" name="図 25" descr="ﾁｮﾜﾖとﾁ˝ｮﾜﾖ ｜同志社大学VOCALOID研究会Arpeggio">
            <a:extLst>
              <a:ext uri="{FF2B5EF4-FFF2-40B4-BE49-F238E27FC236}">
                <a16:creationId xmlns:a16="http://schemas.microsoft.com/office/drawing/2014/main" id="{1CE65A17-D5E2-4BAA-7D9E-8FC02C31D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07" y="2307658"/>
            <a:ext cx="892742" cy="892742"/>
          </a:xfrm>
          <a:prstGeom prst="rect">
            <a:avLst/>
          </a:prstGeom>
        </p:spPr>
      </p:pic>
      <p:sp>
        <p:nvSpPr>
          <p:cNvPr id="27" name="吹き出し: 円形 26">
            <a:extLst>
              <a:ext uri="{FF2B5EF4-FFF2-40B4-BE49-F238E27FC236}">
                <a16:creationId xmlns:a16="http://schemas.microsoft.com/office/drawing/2014/main" id="{2984C46A-0363-1663-0E54-C9CEAC235D8E}"/>
              </a:ext>
            </a:extLst>
          </p:cNvPr>
          <p:cNvSpPr/>
          <p:nvPr/>
        </p:nvSpPr>
        <p:spPr>
          <a:xfrm>
            <a:off x="1833876" y="1534829"/>
            <a:ext cx="2304987" cy="1280560"/>
          </a:xfrm>
          <a:prstGeom prst="wedgeEllipseCallout">
            <a:avLst>
              <a:gd name="adj1" fmla="val -44362"/>
              <a:gd name="adj2" fmla="val 687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/>
              <a:t>このアプリをハッキングしてください</a:t>
            </a:r>
            <a:endParaRPr lang="en-GB" sz="1000" b="1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FA0FAB3C-18DB-77AF-4D8D-30A601EC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55" y="1197415"/>
            <a:ext cx="3048045" cy="1261962"/>
          </a:xfrm>
          <a:prstGeom prst="rect">
            <a:avLst/>
          </a:prstGeom>
        </p:spPr>
      </p:pic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6F92B74-716C-B6C5-D4A1-B16BBDD2264E}"/>
              </a:ext>
            </a:extLst>
          </p:cNvPr>
          <p:cNvCxnSpPr/>
          <p:nvPr/>
        </p:nvCxnSpPr>
        <p:spPr>
          <a:xfrm>
            <a:off x="4820653" y="2534653"/>
            <a:ext cx="155608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図 32">
            <a:extLst>
              <a:ext uri="{FF2B5EF4-FFF2-40B4-BE49-F238E27FC236}">
                <a16:creationId xmlns:a16="http://schemas.microsoft.com/office/drawing/2014/main" id="{00F4C934-B02D-B31A-9E12-AAB73EB4D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16" y="2020375"/>
            <a:ext cx="905217" cy="929038"/>
          </a:xfrm>
          <a:prstGeom prst="rect">
            <a:avLst/>
          </a:prstGeom>
        </p:spPr>
      </p:pic>
      <p:pic>
        <p:nvPicPr>
          <p:cNvPr id="34" name="図 33" descr="ﾁｮﾜﾖとﾁ˝ｮﾜﾖ ｜同志社大学VOCALOID研究会Arpeggio">
            <a:extLst>
              <a:ext uri="{FF2B5EF4-FFF2-40B4-BE49-F238E27FC236}">
                <a16:creationId xmlns:a16="http://schemas.microsoft.com/office/drawing/2014/main" id="{1630859F-6149-1FC3-3E5B-2877AD624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3850244"/>
            <a:ext cx="892742" cy="892742"/>
          </a:xfrm>
          <a:prstGeom prst="rect">
            <a:avLst/>
          </a:prstGeom>
        </p:spPr>
      </p:pic>
      <p:sp>
        <p:nvSpPr>
          <p:cNvPr id="35" name="吹き出し: 円形 34">
            <a:extLst>
              <a:ext uri="{FF2B5EF4-FFF2-40B4-BE49-F238E27FC236}">
                <a16:creationId xmlns:a16="http://schemas.microsoft.com/office/drawing/2014/main" id="{2CC87C49-C0A9-D457-EE7A-8E26BF2A55B6}"/>
              </a:ext>
            </a:extLst>
          </p:cNvPr>
          <p:cNvSpPr/>
          <p:nvPr/>
        </p:nvSpPr>
        <p:spPr>
          <a:xfrm>
            <a:off x="1835749" y="3077415"/>
            <a:ext cx="2304987" cy="1280560"/>
          </a:xfrm>
          <a:prstGeom prst="wedgeEllipseCallout">
            <a:avLst>
              <a:gd name="adj1" fmla="val -44362"/>
              <a:gd name="adj2" fmla="val 687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/>
              <a:t>このプログラムの仕組みを知りたいので、各コンポーネントを詳細に分析してください</a:t>
            </a:r>
            <a:endParaRPr lang="en-GB" sz="10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7A26A28-CFE1-5D86-443E-66AD790112FE}"/>
              </a:ext>
            </a:extLst>
          </p:cNvPr>
          <p:cNvCxnSpPr/>
          <p:nvPr/>
        </p:nvCxnSpPr>
        <p:spPr>
          <a:xfrm>
            <a:off x="4891238" y="3878131"/>
            <a:ext cx="155608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図 37">
            <a:extLst>
              <a:ext uri="{FF2B5EF4-FFF2-40B4-BE49-F238E27FC236}">
                <a16:creationId xmlns:a16="http://schemas.microsoft.com/office/drawing/2014/main" id="{709450F7-A38F-8EA8-79D7-825400900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5871" y="5426042"/>
            <a:ext cx="905217" cy="929038"/>
          </a:xfrm>
          <a:prstGeom prst="rect">
            <a:avLst/>
          </a:prstGeom>
        </p:spPr>
      </p:pic>
      <p:sp>
        <p:nvSpPr>
          <p:cNvPr id="42" name="吹き出し: 円形 41">
            <a:extLst>
              <a:ext uri="{FF2B5EF4-FFF2-40B4-BE49-F238E27FC236}">
                <a16:creationId xmlns:a16="http://schemas.microsoft.com/office/drawing/2014/main" id="{3F851E26-FC8B-C9D6-0232-C9886657DA65}"/>
              </a:ext>
            </a:extLst>
          </p:cNvPr>
          <p:cNvSpPr/>
          <p:nvPr/>
        </p:nvSpPr>
        <p:spPr>
          <a:xfrm>
            <a:off x="7216962" y="3231519"/>
            <a:ext cx="2800250" cy="1237450"/>
          </a:xfrm>
          <a:prstGeom prst="wedgeEllipseCallout">
            <a:avLst>
              <a:gd name="adj1" fmla="val 53979"/>
              <a:gd name="adj2" fmla="val 46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/>
              <a:t>やります！</a:t>
            </a:r>
            <a:endParaRPr lang="en-GB" altLang="ja-JP" sz="1000" b="1" dirty="0"/>
          </a:p>
          <a:p>
            <a:pPr algn="ctr"/>
            <a:r>
              <a:rPr lang="ja-JP" altLang="en-US" sz="1000" b="1" dirty="0"/>
              <a:t>やらせてください！！</a:t>
            </a:r>
            <a:endParaRPr lang="en-GB" sz="1000" b="1" dirty="0"/>
          </a:p>
        </p:txBody>
      </p:sp>
      <p:pic>
        <p:nvPicPr>
          <p:cNvPr id="44" name="図 43" descr="ﾁｮﾜﾖとﾁ˝ｮﾜﾖ ｜同志社大学VOCALOID研究会Arpeggio">
            <a:extLst>
              <a:ext uri="{FF2B5EF4-FFF2-40B4-BE49-F238E27FC236}">
                <a16:creationId xmlns:a16="http://schemas.microsoft.com/office/drawing/2014/main" id="{2142C790-8586-65FF-C1C6-227A32B0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07" y="5570412"/>
            <a:ext cx="892742" cy="892742"/>
          </a:xfrm>
          <a:prstGeom prst="rect">
            <a:avLst/>
          </a:prstGeom>
        </p:spPr>
      </p:pic>
      <p:sp>
        <p:nvSpPr>
          <p:cNvPr id="46" name="吹き出し: 円形 45">
            <a:extLst>
              <a:ext uri="{FF2B5EF4-FFF2-40B4-BE49-F238E27FC236}">
                <a16:creationId xmlns:a16="http://schemas.microsoft.com/office/drawing/2014/main" id="{7D8C062E-774A-684F-547F-C02817A32231}"/>
              </a:ext>
            </a:extLst>
          </p:cNvPr>
          <p:cNvSpPr/>
          <p:nvPr/>
        </p:nvSpPr>
        <p:spPr>
          <a:xfrm>
            <a:off x="1790160" y="5040536"/>
            <a:ext cx="2509991" cy="1037607"/>
          </a:xfrm>
          <a:prstGeom prst="wedgeEllipseCallout">
            <a:avLst>
              <a:gd name="adj1" fmla="val -44362"/>
              <a:gd name="adj2" fmla="val 687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/>
              <a:t>Hackerone:triager</a:t>
            </a:r>
            <a:r>
              <a:rPr lang="en-GB" sz="1000" b="1" dirty="0"/>
              <a:t> </a:t>
            </a:r>
          </a:p>
          <a:p>
            <a:pPr algn="ctr"/>
            <a:r>
              <a:rPr lang="en-GB" sz="1000" b="1" dirty="0"/>
              <a:t>Hi we need vulnerable…..</a:t>
            </a:r>
          </a:p>
          <a:p>
            <a:pPr algn="ctr"/>
            <a:r>
              <a:rPr lang="en-GB" sz="1000" b="1" dirty="0"/>
              <a:t>Find please :)</a:t>
            </a:r>
          </a:p>
        </p:txBody>
      </p:sp>
      <p:sp>
        <p:nvSpPr>
          <p:cNvPr id="48" name="吹き出し: 円形 47">
            <a:extLst>
              <a:ext uri="{FF2B5EF4-FFF2-40B4-BE49-F238E27FC236}">
                <a16:creationId xmlns:a16="http://schemas.microsoft.com/office/drawing/2014/main" id="{6288399B-9511-5102-B56E-F1B8363D4B13}"/>
              </a:ext>
            </a:extLst>
          </p:cNvPr>
          <p:cNvSpPr/>
          <p:nvPr/>
        </p:nvSpPr>
        <p:spPr>
          <a:xfrm>
            <a:off x="7105750" y="4779333"/>
            <a:ext cx="2800250" cy="1237450"/>
          </a:xfrm>
          <a:prstGeom prst="wedgeEllipseCallout">
            <a:avLst>
              <a:gd name="adj1" fmla="val 53979"/>
              <a:gd name="adj2" fmla="val 46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/>
              <a:t>やります！</a:t>
            </a:r>
            <a:endParaRPr lang="en-GB" altLang="ja-JP" sz="1000" b="1" dirty="0"/>
          </a:p>
          <a:p>
            <a:pPr algn="ctr"/>
            <a:r>
              <a:rPr lang="ja-JP" altLang="en-US" sz="1000" b="1" dirty="0"/>
              <a:t>やらせてください！！</a:t>
            </a:r>
            <a:endParaRPr lang="en-GB" sz="10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244576DA-F2BE-C3FB-7A08-C41E584A3CD8}"/>
              </a:ext>
            </a:extLst>
          </p:cNvPr>
          <p:cNvCxnSpPr/>
          <p:nvPr/>
        </p:nvCxnSpPr>
        <p:spPr>
          <a:xfrm>
            <a:off x="4859371" y="5395319"/>
            <a:ext cx="155608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</a:t>
            </a:r>
            <a:r>
              <a:rPr lang="ja-JP" alt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に</a:t>
            </a:r>
            <a:r>
              <a:rPr lang="en-US" sz="3000" b="1" dirty="0" err="1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対象アプリの“内側のデータ面</a:t>
            </a: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”</a:t>
            </a:r>
            <a:r>
              <a:rPr lang="ja-JP" alt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を一覧に出させる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Qtの custom URL scheme wickrweb:// が、E2E復号済みのローカルデータをHTTP風APIで公開している。しかも全ビューが単一プロファイルを共有する。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18223B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xxxxweb://</a:t>
            </a:r>
            <a:r>
              <a:rPr lang="en-US" sz="15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— 特権データ面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8972" y="2958084"/>
            <a:ext cx="82296" cy="82296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users/self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834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現在のユーザーレコード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8972" y="3525012"/>
            <a:ext cx="82296" cy="82296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97280" y="3401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contacts/contacts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連絡先ロスター全件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" y="4091940"/>
            <a:ext cx="82296" cy="82296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97280" y="39684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convolist/ · message/:vgroupId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会話一覧・メッセージ履歴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" y="4658868"/>
            <a:ext cx="82296" cy="82296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97280" y="45354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file|image|audio/message/…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5354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復号済み添付メディア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" y="5225796"/>
            <a:ext cx="82296" cy="82296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97280" y="51023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awsCredentials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5102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クライアントのAWS認証情報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5504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35本のGETルート。正規UIは qrc: ページから cross-scheme fetch で読む。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0B88EED0-AE64-712A-5109-321B28A87F3C}"/>
              </a:ext>
            </a:extLst>
          </p:cNvPr>
          <p:cNvSpPr/>
          <p:nvPr/>
        </p:nvSpPr>
        <p:spPr>
          <a:xfrm>
            <a:off x="6355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5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DE2096F0-DF35-76C9-5B13-BDE63B107FEC}"/>
              </a:ext>
            </a:extLst>
          </p:cNvPr>
          <p:cNvSpPr/>
          <p:nvPr/>
        </p:nvSpPr>
        <p:spPr>
          <a:xfrm>
            <a:off x="635508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種別</a:t>
            </a:r>
            <a:endParaRPr lang="en-US" sz="115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EC93E77A-36A8-24C1-AE72-8F5313D936F6}"/>
              </a:ext>
            </a:extLst>
          </p:cNvPr>
          <p:cNvSpPr/>
          <p:nvPr/>
        </p:nvSpPr>
        <p:spPr>
          <a:xfrm>
            <a:off x="8247888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E2E </a:t>
            </a:r>
            <a:r>
              <a:rPr lang="en-US" sz="1150" dirty="0" err="1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セキュアメッセンジャーの</a:t>
            </a: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Desktop </a:t>
            </a:r>
            <a:r>
              <a:rPr lang="en-US" sz="1150" dirty="0" err="1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クライアント</a:t>
            </a:r>
            <a:endParaRPr lang="en-US" sz="115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1FC4D9F0-335C-F1B2-B9BD-8CB627DB8D57}"/>
              </a:ext>
            </a:extLst>
          </p:cNvPr>
          <p:cNvSpPr/>
          <p:nvPr/>
        </p:nvSpPr>
        <p:spPr>
          <a:xfrm>
            <a:off x="6355080" y="3264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プラットフォーム</a:t>
            </a:r>
            <a:endParaRPr lang="en-US" sz="115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1FA3112-D6C8-0F3C-5E22-A65CFC2F95EE}"/>
              </a:ext>
            </a:extLst>
          </p:cNvPr>
          <p:cNvSpPr/>
          <p:nvPr/>
        </p:nvSpPr>
        <p:spPr>
          <a:xfrm>
            <a:off x="8247888" y="3264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Windows x64 / ネイティブ Qt6・QML</a:t>
            </a:r>
            <a:endParaRPr lang="en-US" sz="115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A2DE63AD-DAA0-C4EE-319A-A00849A4C74C}"/>
              </a:ext>
            </a:extLst>
          </p:cNvPr>
          <p:cNvSpPr/>
          <p:nvPr/>
        </p:nvSpPr>
        <p:spPr>
          <a:xfrm>
            <a:off x="6355080" y="37856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描画エンジン</a:t>
            </a:r>
            <a:endParaRPr lang="en-US" sz="115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22B55A70-66A9-C9E7-B2CE-E0865A09756C}"/>
              </a:ext>
            </a:extLst>
          </p:cNvPr>
          <p:cNvSpPr/>
          <p:nvPr/>
        </p:nvSpPr>
        <p:spPr>
          <a:xfrm>
            <a:off x="8247888" y="3785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Qt WebEngine 6.9.2 = Chromium 130.0.6723.192</a:t>
            </a:r>
            <a:endParaRPr lang="en-US" sz="11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6437621F-E2B9-CD3F-CE8B-B07DC157AE96}"/>
              </a:ext>
            </a:extLst>
          </p:cNvPr>
          <p:cNvSpPr/>
          <p:nvPr/>
        </p:nvSpPr>
        <p:spPr>
          <a:xfrm>
            <a:off x="6355080" y="430682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 構成</a:t>
            </a:r>
            <a:endParaRPr lang="en-US" sz="115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21B348D1-6452-C2E9-4B1A-EF39B72E025A}"/>
              </a:ext>
            </a:extLst>
          </p:cNvPr>
          <p:cNvSpPr/>
          <p:nvPr/>
        </p:nvSpPr>
        <p:spPr>
          <a:xfrm>
            <a:off x="8247888" y="4306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qrc: 上の Web アプリ + custom URL scheme でネイティブ API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</a:t>
            </a:r>
            <a:r>
              <a:rPr lang="ja-JP" alt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が見つけたバグ１：</a:t>
            </a:r>
            <a:r>
              <a:rPr lang="en-US" sz="3000" b="1" dirty="0" err="1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DOCXプレビューの無害化されないHTMLシンク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08792" cy="2148840"/>
          </a:xfrm>
          <a:prstGeom prst="roundRect">
            <a:avLst>
              <a:gd name="adj" fmla="val 2553"/>
            </a:avLst>
          </a:prstGeom>
          <a:solidFill>
            <a:srgbClr val="0A1122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2395728"/>
            <a:ext cx="59344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renderSymbol</a:t>
            </a: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(elem)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span = this.createElement(</a:t>
            </a:r>
            <a:r>
              <a:rPr lang="en-US" sz="1100" dirty="0">
                <a:solidFill>
                  <a:srgbClr val="45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"span"</a:t>
            </a: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span.innerHTML = </a:t>
            </a:r>
            <a:r>
              <a:rPr lang="en-US" sz="1100" dirty="0">
                <a:solidFill>
                  <a:srgbClr val="F05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`&amp;#x${elem.char};`</a:t>
            </a: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w:sym/@w:char をそのまま — 無害化なし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renderAltChunks</a:t>
            </a:r>
            <a:r>
              <a:rPr lang="en-US" sz="110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は既定 </a:t>
            </a:r>
            <a:r>
              <a:rPr lang="en-US" sz="1100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100" dirty="0">
                <a:solidFill>
                  <a:srgbClr val="F05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iframe.srcdoc</a:t>
            </a:r>
            <a:r>
              <a:rPr lang="en-US" sz="110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攻撃者HTML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8223B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554480" y="466344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altLang="ja-JP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HTML</a:t>
            </a:r>
            <a:r>
              <a:rPr lang="ja-JP" altLang="en-US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のインジェクションは可能、</a:t>
            </a:r>
            <a:r>
              <a:rPr lang="en-US" altLang="ja-JP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</a:t>
            </a:r>
            <a:r>
              <a:rPr lang="ja-JP" altLang="en-US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が実行できれば、特権面の</a:t>
            </a:r>
            <a:r>
              <a:rPr lang="en-US" altLang="ja-JP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</a:t>
            </a:r>
            <a:r>
              <a:rPr lang="ja-JP" altLang="en-US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スキームが呼び出してチャット内容を持ち出しできる。</a:t>
            </a:r>
            <a:endParaRPr lang="en-US" sz="1400" b="1" dirty="0">
              <a:solidFill>
                <a:srgbClr val="F1F5FF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</a:t>
            </a:r>
            <a:r>
              <a:rPr lang="ja-JP" alt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08792" cy="2331720"/>
          </a:xfrm>
          <a:prstGeom prst="roundRect">
            <a:avLst>
              <a:gd name="adj" fmla="val 2353"/>
            </a:avLst>
          </a:prstGeom>
          <a:solidFill>
            <a:srgbClr val="0A1122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1057960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default-src 'self' qrc://* wickrweb://* 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5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script-src  'self' qrc://* ;</a:t>
            </a:r>
            <a:r>
              <a:rPr lang="en-US" sz="1250" dirty="0">
                <a:solidFill>
                  <a:srgbClr val="F2B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inline / eval / nonce / data: / blob: すべて無し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frame-</a:t>
            </a:r>
            <a:r>
              <a:rPr lang="en-US" sz="1250" dirty="0" err="1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50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'self' blob: https://fast.com/ https://main.</a:t>
            </a:r>
            <a:r>
              <a:rPr lang="en-US" altLang="ja-JP" sz="1250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xxxxxxxxxxx</a:t>
            </a:r>
            <a:r>
              <a:rPr lang="en-US" sz="1250" dirty="0">
                <a:solidFill>
                  <a:srgbClr val="5BC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.amplifyapp.com/ 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</a:t>
            </a:r>
            <a:r>
              <a:rPr lang="en-US" sz="1250" dirty="0" err="1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5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'self' wickrweb://* https://bedrock-*.amazonaws.com 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img-src</a:t>
            </a:r>
            <a:r>
              <a:rPr lang="en-US" sz="1250" dirty="0">
                <a:solidFill>
                  <a:srgbClr val="7C8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media-src 'self' wickrweb://* blob: data: ;   object-src 'self' 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79" y="4709160"/>
            <a:ext cx="10994027" cy="1234440"/>
          </a:xfrm>
          <a:prstGeom prst="roundRect">
            <a:avLst>
              <a:gd name="adj" fmla="val 6667"/>
            </a:avLst>
          </a:prstGeom>
          <a:solidFill>
            <a:srgbClr val="18223B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95897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script-src に許されるのは 'self' と qrc:// のみ。</a:t>
            </a: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qrc</a:t>
            </a: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: リソースは読み取り専用で攻撃者コンテンツを含まない。→ inline も onerror も postMessage も、注入した script は一切動かない。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別プラットフォーム · 補足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Android は“ポリグロット”で正面から抜けた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 docx-preview のシンク。だが Android には Desktop に無かった武器があった — </a:t>
            </a:r>
            <a:r>
              <a:rPr lang="en-US" sz="13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/preview-file/ が DOCX バイトを same-origin で返す reflector</a:t>
            </a:r>
            <a:r>
              <a:rPr lang="en-US" sz="130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806440" cy="3840480"/>
          </a:xfrm>
          <a:prstGeom prst="roundRect">
            <a:avLst>
              <a:gd name="adj" fmla="val 2143"/>
            </a:avLst>
          </a:prstGeom>
          <a:solidFill>
            <a:srgbClr val="18223B"/>
          </a:solidFill>
          <a:ln w="12700">
            <a:solidFill>
              <a:srgbClr val="5BC7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2494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ポリグロットの仕組み   </a:t>
            </a:r>
            <a:r>
              <a:rPr lang="en-US" sz="10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Android · com.wickr.pro 6.72.5 · 実機確認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" y="2724912"/>
            <a:ext cx="237744" cy="237744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096" y="268833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3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3584" y="26700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srcdoc に script を注入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9809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renderSymbol で &lt;iframe srcdoc="&lt;script src='/preview-file/x.js'&gt;"&gt; を注入 — srcdoc はパーサ生成なので script が走り、親の origin と script-src 'self' を継承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3511296"/>
            <a:ext cx="237744" cy="237744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68096" y="34747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3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43584" y="34564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reflector が同一バイトを返す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43584" y="376732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/preview-file/ が同じ DOCX バイトを same-origin で返す（nosniff 無し）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0392" y="4297680"/>
            <a:ext cx="237744" cy="237744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68096" y="426110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3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43584" y="4242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classic script として解釈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43584" y="455371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 先頭が実行、ZIP 本体は ZIP コメント(*/)で閉じるブロックコメント内に収まる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0392" y="5084064"/>
            <a:ext cx="237744" cy="237744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8096" y="504748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3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5029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親文書へ書き込み成功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43584" y="534009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赤バナー・title 変更 = same-origin JS 実行を実機で確認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2103120"/>
            <a:ext cx="5010912" cy="3840480"/>
          </a:xfrm>
          <a:prstGeom prst="roundRect">
            <a:avLst>
              <a:gd name="adj" fmla="val 2143"/>
            </a:avLst>
          </a:prstGeom>
          <a:solidFill>
            <a:srgbClr val="18223B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66560" y="2249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Desktop との違い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35140" y="2802636"/>
            <a:ext cx="100584" cy="100584"/>
          </a:xfrm>
          <a:prstGeom prst="ellipse">
            <a:avLst/>
          </a:prstGeom>
          <a:solidFill>
            <a:srgbClr val="5BC7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059168" y="26883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CSPを“迂回”せず“満たした”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59168" y="3017520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攻撃者バイトを same-origin で返す /preview-file/ から script-src 'self' を正規に満たす。inline 迂回なし・全段 documented。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35140" y="3863340"/>
            <a:ext cx="100584" cy="100584"/>
          </a:xfrm>
          <a:prstGeom prst="ellipse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059168" y="37490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これが Desktop の分岐点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59168" y="407822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Desktop には同等の same-origin reflector が無い → script-src が保つ → だから frame-src 許可オリジン／CSP免除スキームへ迂回する必要があった。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35140" y="4924044"/>
            <a:ext cx="100584" cy="100584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059168" y="48097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57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ただし到達データ面は弱い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59168" y="5138928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Android は同等の message DB に未到達。深刻度は wickrweb:// を持つ Desktop の方が上。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某セキュアメッセンジャー (Desktop) · CSP 社内勉強会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 社内勉強会 · 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 の学びと、修正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0" cy="4114800"/>
          </a:xfrm>
          <a:prstGeom prst="roundRect">
            <a:avLst>
              <a:gd name="adj" fmla="val 2000"/>
            </a:avLst>
          </a:prstGeom>
          <a:solidFill>
            <a:srgbClr val="18223B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攻める側の視点（CSPの学び）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505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script-src が鉄壁でも、そこで諦めない。CSPが“信頼するもの”を見る。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3101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frame-src の許可オリジンは踏み台になりうる — 特にそのホストに既知の脆弱性があれば。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41696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16966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custom scheme は engine フラグでCSPを免除されることがある。逆アセンブルで setFlags を必ず確認。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029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B44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F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CSPは防御の1レイヤーであって、境界そのものではない。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5056632" cy="4114800"/>
          </a:xfrm>
          <a:prstGeom prst="roundRect">
            <a:avLst>
              <a:gd name="adj" fmla="val 2000"/>
            </a:avLst>
          </a:prstGeom>
          <a:solidFill>
            <a:srgbClr val="18223B"/>
          </a:solidFill>
          <a:ln w="12700">
            <a:solidFill>
              <a:srgbClr val="5BC7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2084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修正案（優先度順）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208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14032" y="241401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setFlags の 0x040 を除去</a:t>
            </a:r>
            <a:r>
              <a:rPr lang="en-US" sz="11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—  0x1E5 → 0x1A5。既存CSPを engine が尊重するようになる（根本修正）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14032" y="31089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frame-src から amplify を削除</a:t>
            </a:r>
            <a:r>
              <a:rPr lang="en-US" sz="11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—  または非wickrweb プロファイルで隔離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14032" y="380390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initiator() を検証</a:t>
            </a:r>
            <a:r>
              <a:rPr lang="en-US" sz="11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—  qrc: オリジン以外の wickrweb:// 要求を拒否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14032" y="449884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Content-Type を固定</a:t>
            </a:r>
            <a:r>
              <a:rPr lang="en-US" sz="11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—  file ルートで中身 sniff をやめ octet-stream 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C7F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14032" y="51937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preview iframe を sandbox化 / 証明書自動受理を停止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某セキュアメッセンジャー (Desktop) · CSP 社内勉強会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9A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1003</Words>
  <Application>Microsoft Office PowerPoint</Application>
  <PresentationFormat>ワイド画面</PresentationFormat>
  <Paragraphs>161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 UI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某セキュアメッセンジャー Desktop — CSP ケーススタディ</dc:title>
  <dc:subject>PptxGenJS Presentation</dc:subject>
  <dc:creator>vvts-bugbounty</dc:creator>
  <cp:lastModifiedBy>Kojiro Enokida</cp:lastModifiedBy>
  <cp:revision>19</cp:revision>
  <dcterms:created xsi:type="dcterms:W3CDTF">2026-08-21T02:10:14Z</dcterms:created>
  <dcterms:modified xsi:type="dcterms:W3CDTF">2026-08-21T06:28:58Z</dcterms:modified>
</cp:coreProperties>
</file>